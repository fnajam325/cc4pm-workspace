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Summary (treatment)</c:v>
                </c:pt>
              </c:strCache>
            </c:strRef>
          </c:tx>
          <c:spPr>
            <a:solidFill>
              <a:srgbClr val="39FF88"/>
            </a:solidFill>
            <a:ln w="38100" cap="flat">
              <a:solidFill>
                <a:srgbClr val="39FF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9FF88"/>
              </a:solidFill>
              <a:ln w="9525" cap="flat">
                <a:solidFill>
                  <a:srgbClr val="39FF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52</c:v>
                </c:pt>
                <c:pt idx="2">
                  <c:v>52</c:v>
                </c:pt>
                <c:pt idx="3">
                  <c:v>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4A5468"/>
            </a:solidFill>
            <a:ln w="38100" cap="flat">
              <a:solidFill>
                <a:srgbClr val="4A54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5468"/>
              </a:solidFill>
              <a:ln w="9525" cap="flat">
                <a:solidFill>
                  <a:srgbClr val="4A54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4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8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0E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5681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· ENGAGE V2 · QUARTERLY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Recovering 30-Day Retention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Personalized Weekly Summary: what we found, what we built, what we're asking for.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course scenario · Prepared for Marcus, Head of Product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is sliding, and it's not self-correcting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206240" cy="2926080"/>
          </a:xfrm>
          <a:prstGeom prst="roundRect">
            <a:avLst>
              <a:gd name="adj" fmla="val 4375"/>
            </a:avLst>
          </a:prstGeom>
          <a:solidFill>
            <a:srgbClr val="1C27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E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retention, last two quarters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actually breaks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23774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 isn't at onboarding. Users get a strong first moment — the initial spending breakdown consistently lands well — and then the app gives them nothing that pulls them back.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0640" y="352044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14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352044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isn't acquisition or first impressions — it's what happens right after.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7 · Source: docs/decision-brief.md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sources, one 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rgbClr val="1C27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</a:rPr>
              <a:t>🗣️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describe the same static, unrewarding experience after week 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594360" cy="594360"/>
          </a:xfrm>
          <a:prstGeom prst="ellipse">
            <a:avLst/>
          </a:prstGeom>
          <a:solidFill>
            <a:srgbClr val="1C2740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</a:rPr>
              <a:t>📊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429768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feedback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0175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confirms it — precision matters more than volume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594360" cy="594360"/>
          </a:xfrm>
          <a:prstGeom prst="ellipse">
            <a:avLst/>
          </a:prstGeom>
          <a:solidFill>
            <a:srgbClr val="1C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000000"/>
                </a:solidFill>
              </a:rPr>
              <a:t>🔍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804672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scan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301752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(YNAB, Copilot, Rocket Money, Monarch) owns this gap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C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WAITING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69087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slide is already 7 points deep with no sign of leveling off — every quarter we don't act compounds both the metric loss and the market opportunity we're leaving open.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7 · Source: docs/decision-brief.md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personalized weekly summary, precisely scoped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IT 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73152" cy="73152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spending insight, genuinely derivable from ≤2 weeks of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255264"/>
            <a:ext cx="73152" cy="73152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72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nudge that IS the goal-setting action — not a separate 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005072"/>
            <a:ext cx="73152" cy="73152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9227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goal progress that updates in place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754880"/>
            <a:ext cx="73152" cy="73152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6725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pay off in week 1-2, not months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78308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4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WHAT IT ISN'T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505456"/>
            <a:ext cx="73152" cy="73152"/>
          </a:xfrm>
          <a:prstGeom prst="ellipse">
            <a:avLst/>
          </a:prstGeom>
          <a:solidFill>
            <a:srgbClr val="FF5C6C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debt-aware financial coach — explicitly out of scope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374136"/>
            <a:ext cx="73152" cy="73152"/>
          </a:xfrm>
          <a:prstGeom prst="ellipse">
            <a:avLst/>
          </a:prstGeom>
          <a:solidFill>
            <a:srgbClr val="FF5C6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channel-only fix — email parity alone was considered and rejected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242816"/>
            <a:ext cx="73152" cy="73152"/>
          </a:xfrm>
          <a:prstGeom prst="ellipse">
            <a:avLst/>
          </a:prstGeom>
          <a:solidFill>
            <a:srgbClr val="FF5C6C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finished, guaranteed solution — a tested experiment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7 · Source: docs/decision-brief.md, docs/pm-brief.md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949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REAL INTERVIEWS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pattern, from three different users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02152" cy="2606040"/>
          </a:xfrm>
          <a:prstGeom prst="roundRect">
            <a:avLst>
              <a:gd name="adj" fmla="val 4211"/>
            </a:avLst>
          </a:prstGeom>
          <a:solidFill>
            <a:srgbClr val="141B2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user, day 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spending breakdown was shocking in a useful way.”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279392" y="1691640"/>
            <a:ext cx="3502152" cy="2606040"/>
          </a:xfrm>
          <a:prstGeom prst="roundRect">
            <a:avLst>
              <a:gd name="adj" fmla="val 4211"/>
            </a:avLst>
          </a:prstGeom>
          <a:solidFill>
            <a:srgbClr val="141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7992" y="1920240"/>
            <a:ext cx="502920" cy="502920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48072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48072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churned, week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07992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switched to YNAB because at least that feels like it is asking something of me.”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0144" y="1691640"/>
            <a:ext cx="3502152" cy="2606040"/>
          </a:xfrm>
          <a:prstGeom prst="roundRect">
            <a:avLst>
              <a:gd name="adj" fmla="val 4211"/>
            </a:avLst>
          </a:prstGeom>
          <a:solidFill>
            <a:srgbClr val="141B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38744" y="1920240"/>
            <a:ext cx="502920" cy="502920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19" name="Text 17"/>
          <p:cNvSpPr/>
          <p:nvPr/>
        </p:nvSpPr>
        <p:spPr>
          <a:xfrm>
            <a:off x="823874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78824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78824" y="22128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user, 18mo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38744" y="265176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took about three months to get there — and I think most people give up before that.”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CONFIRMS THE SAME GAPS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C274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463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set a savings goal but Nudge has never once mentioned it since. It is like it forgot.”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846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C274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8463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weekly email is the only thing keeping me engaged. The app itself has not given me a reason to open it.”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7 · Source: research/interview-synthesis.md, research/nps-analysis.md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949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WEEK-5 LIVE EXPERIMENT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signal is real; later signal is promising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1C274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DAY-7 RETENTION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 vs 46%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(p&lt;0.01)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87952" y="169164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4416552" y="1847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DAY-30 RETENTION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16552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 vs 22%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416552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size, not yet significant (p≈0.12)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27264" y="1691640"/>
            <a:ext cx="3602736" cy="160020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055864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GOAL-SETTERS RETAIN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55864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34.8% vs 21.6%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55864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this experiment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across 4 weekly sends — growing, not decaying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48640" y="3977640"/>
          <a:ext cx="71780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7955280" y="3977640"/>
            <a:ext cx="3474720" cy="2240280"/>
          </a:xfrm>
          <a:prstGeom prst="roundRect">
            <a:avLst>
              <a:gd name="adj" fmla="val 4082"/>
            </a:avLst>
          </a:prstGeom>
          <a:solidFill>
            <a:srgbClr val="1C2740"/>
          </a:solidFill>
          <a:ln/>
        </p:spPr>
      </p:sp>
      <p:sp>
        <p:nvSpPr>
          <p:cNvPr id="20" name="Text 17"/>
          <p:cNvSpPr/>
          <p:nvPr/>
        </p:nvSpPr>
        <p:spPr>
          <a:xfrm>
            <a:off x="818388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183880" y="44805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through multiple rounds before this ever touched real users.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7 · Source: data/metric-findings.md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clear milestone, one named risk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continues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weeks of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50208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141B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212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Day-30 significance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matters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99248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39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2212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E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recommendation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real timeline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0881360" cy="1965960"/>
          </a:xfrm>
          <a:prstGeom prst="roundRect">
            <a:avLst>
              <a:gd name="adj" fmla="val 5581"/>
            </a:avLst>
          </a:prstGeom>
          <a:solidFill>
            <a:srgbClr val="1C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RISK — NOT HIDDEN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206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moves week-1 survival. It does not yet move whether people who already survived week 1 stick around through day 30 — a real segment of churners isn't helped yet.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planned: a week-2+ continuation loop — designed, not yet built or tested.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7 · Source: docs/design-review.md, docs/objection-log.md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6809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asking for a rollout today.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for two things to get there.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1C274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0604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828800" y="27432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experiment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28800" y="3154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day-30 retention reaches statistical significance.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1C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84048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39776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week-2+ loop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28800" y="43891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— including real-user validation before we build.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return: a full rollout recommendation and a real timeline — once day-30 significance is reached, not before.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7 · Source: docs/decision-brief.md, data/metric-findings.md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9496"/>
            <a:ext cx="82296" cy="82296"/>
          </a:xfrm>
          <a:prstGeom prst="ellipse">
            <a:avLst/>
          </a:prstGeom>
          <a:solidFill>
            <a:srgbClr val="39FF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USE THIS SLIDE IF SHORT ON 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FF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 v2, in one slide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141B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1783080"/>
            <a:ext cx="8458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retention: 44% → 37%. The drop happens after week 1, not at onboarding.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141B2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946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56946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2569464"/>
            <a:ext cx="8458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 sources agree; no competitor owns this gap; the slide isn't self-correcting.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14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5584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35584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34640" y="3355848"/>
            <a:ext cx="8458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weekly summary — insight + nudge-as-goal-setting + goal progress. Debt-aware coaching explicitly out of scope.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4223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4223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14223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34640" y="4142232"/>
            <a:ext cx="8458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Day-7 lift is significant (76% vs 46%). Day-30 is directional (36% vs 22%), not yet significant. Open rate climbs 28%→56% vs flat control.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2861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14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92861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92861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834640" y="4928616"/>
            <a:ext cx="8458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experiment to day-30 significance. Named risk: doesn't yet help users who churn after week 1 — mitigation designed, not built.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141B2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71500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571500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34640" y="5715000"/>
            <a:ext cx="8458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continuing the experiment + scoping the week-2+ loop in parallel. Rollout recommendation comes once day-30 is significant.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slide · Full deck: slides 1-7 · Full source: docs/presentation.md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2026-08-22T16:36:51Z</dcterms:created>
  <dcterms:modified xsi:type="dcterms:W3CDTF">2026-08-22T16:36:51Z</dcterms:modified>
</cp:coreProperties>
</file>